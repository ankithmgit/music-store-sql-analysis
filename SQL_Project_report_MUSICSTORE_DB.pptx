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67" r:id="rId4"/>
    <p:sldId id="260" r:id="rId5"/>
    <p:sldId id="261" r:id="rId6"/>
    <p:sldId id="262" r:id="rId7"/>
    <p:sldId id="268" r:id="rId8"/>
    <p:sldId id="269" r:id="rId9"/>
    <p:sldId id="270" r:id="rId10"/>
    <p:sldId id="271" r:id="rId11"/>
    <p:sldId id="272" r:id="rId12"/>
    <p:sldId id="273" r:id="rId13"/>
    <p:sldId id="274" r:id="rId14"/>
    <p:sldId id="275" r:id="rId15"/>
    <p:sldId id="276" r:id="rId16"/>
    <p:sldId id="277" r:id="rId17"/>
    <p:sldId id="263" r:id="rId18"/>
    <p:sldId id="264" r:id="rId19"/>
    <p:sldId id="265" r:id="rId20"/>
    <p:sldId id="266" r:id="rId21"/>
    <p:sldId id="259" r:id="rId22"/>
  </p:sldIdLst>
  <p:sldSz cx="12192000" cy="6858000"/>
  <p:notesSz cx="6858000" cy="9144000"/>
  <p:embeddedFontLs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98" autoAdjust="0"/>
    <p:restoredTop sz="94660"/>
  </p:normalViewPr>
  <p:slideViewPr>
    <p:cSldViewPr snapToGrid="0">
      <p:cViewPr>
        <p:scale>
          <a:sx n="69" d="100"/>
          <a:sy n="69" d="100"/>
        </p:scale>
        <p:origin x="38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6"/>
            <a:ext cx="8101405" cy="62457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8" name="Google Shape;28;p10"/>
          <p:cNvSpPr txBox="1">
            <a:spLocks noGrp="1"/>
          </p:cNvSpPr>
          <p:nvPr>
            <p:ph type="body" idx="1"/>
          </p:nvPr>
        </p:nvSpPr>
        <p:spPr>
          <a:xfrm>
            <a:off x="838200" y="1102660"/>
            <a:ext cx="10515600" cy="50743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6"/>
            <a:ext cx="6724426" cy="95806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4239194"/>
            <a:ext cx="7246189" cy="86173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r>
              <a:rPr lang="en-IN" sz="3200" b="1" i="0" u="none" strike="noStrike" cap="none" dirty="0">
                <a:solidFill>
                  <a:schemeClr val="dk1"/>
                </a:solidFill>
                <a:latin typeface="Calibri"/>
                <a:ea typeface="Calibri"/>
                <a:cs typeface="Calibri"/>
                <a:sym typeface="Calibri"/>
              </a:rPr>
              <a:t>MUSIC STORE DATA ANALYSIS</a:t>
            </a:r>
            <a:endParaRPr sz="3200" b="1"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2" y="1299172"/>
            <a:ext cx="7007400" cy="2677616"/>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dirty="0">
                <a:solidFill>
                  <a:schemeClr val="dk1"/>
                </a:solidFill>
                <a:latin typeface="Calibri"/>
                <a:ea typeface="Calibri"/>
                <a:cs typeface="Calibri"/>
                <a:sym typeface="Calibri"/>
              </a:rPr>
              <a:t>Group member 1:</a:t>
            </a:r>
          </a:p>
          <a:p>
            <a:pPr marR="0" lvl="0" algn="l" rtl="0">
              <a:lnSpc>
                <a:spcPct val="100000"/>
              </a:lnSpc>
              <a:spcBef>
                <a:spcPts val="0"/>
              </a:spcBef>
              <a:spcAft>
                <a:spcPts val="0"/>
              </a:spcAft>
              <a:buClr>
                <a:schemeClr val="dk1"/>
              </a:buClr>
              <a:buSzPts val="2400"/>
            </a:pPr>
            <a:r>
              <a:rPr lang="en-IN" sz="2400" b="1" i="0" u="none" strike="noStrike" cap="none" dirty="0">
                <a:solidFill>
                  <a:schemeClr val="dk1"/>
                </a:solidFill>
                <a:latin typeface="Calibri"/>
                <a:ea typeface="Calibri"/>
                <a:cs typeface="Calibri"/>
                <a:sym typeface="Calibri"/>
              </a:rPr>
              <a:t>     </a:t>
            </a:r>
            <a:r>
              <a:rPr lang="en-IN" sz="2400" b="1" dirty="0">
                <a:solidFill>
                  <a:schemeClr val="dk1"/>
                </a:solidFill>
                <a:latin typeface="Calibri"/>
                <a:ea typeface="Calibri"/>
                <a:cs typeface="Calibri"/>
                <a:sym typeface="Calibri"/>
              </a:rPr>
              <a:t>D. Sai Siddharth Varma</a:t>
            </a:r>
            <a:r>
              <a:rPr lang="en-IN" sz="2400" b="1" i="0" u="none" strike="noStrike" cap="none" dirty="0">
                <a:solidFill>
                  <a:schemeClr val="dk1"/>
                </a:solidFill>
                <a:latin typeface="Calibri"/>
                <a:ea typeface="Calibri"/>
                <a:cs typeface="Calibri"/>
                <a:sym typeface="Calibri"/>
              </a:rPr>
              <a:t>, B. Tech</a:t>
            </a:r>
            <a:r>
              <a:rPr lang="en-IN" sz="2400" b="1" dirty="0">
                <a:solidFill>
                  <a:schemeClr val="dk1"/>
                </a:solidFill>
                <a:latin typeface="Calibri"/>
                <a:ea typeface="Calibri"/>
                <a:cs typeface="Calibri"/>
                <a:sym typeface="Calibri"/>
              </a:rPr>
              <a:t> in CSE</a:t>
            </a:r>
          </a:p>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     ID: , Batch: 448</a:t>
            </a:r>
          </a:p>
          <a:p>
            <a:pPr marL="285750" marR="0" lvl="0" indent="-323850" algn="l" rtl="0">
              <a:lnSpc>
                <a:spcPct val="100000"/>
              </a:lnSpc>
              <a:spcBef>
                <a:spcPts val="0"/>
              </a:spcBef>
              <a:spcAft>
                <a:spcPts val="0"/>
              </a:spcAft>
              <a:buClr>
                <a:schemeClr val="dk1"/>
              </a:buClr>
              <a:buSzPts val="2400"/>
              <a:buFont typeface="Arial"/>
              <a:buChar char="•"/>
            </a:pPr>
            <a:endParaRPr sz="2400" b="1"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dirty="0">
                <a:solidFill>
                  <a:schemeClr val="dk1"/>
                </a:solidFill>
                <a:latin typeface="Calibri"/>
                <a:ea typeface="Calibri"/>
                <a:cs typeface="Calibri"/>
                <a:sym typeface="Calibri"/>
              </a:rPr>
              <a:t>Group member 2:</a:t>
            </a:r>
          </a:p>
          <a:p>
            <a:pPr marR="0" lvl="0" algn="l" rtl="0">
              <a:lnSpc>
                <a:spcPct val="100000"/>
              </a:lnSpc>
              <a:spcBef>
                <a:spcPts val="0"/>
              </a:spcBef>
              <a:spcAft>
                <a:spcPts val="0"/>
              </a:spcAft>
              <a:buClr>
                <a:schemeClr val="dk1"/>
              </a:buClr>
              <a:buSzPts val="2400"/>
            </a:pPr>
            <a:r>
              <a:rPr lang="en-IN" sz="2400" b="1" i="0" u="none" strike="noStrike" cap="none" dirty="0">
                <a:solidFill>
                  <a:schemeClr val="dk1"/>
                </a:solidFill>
                <a:latin typeface="Calibri"/>
                <a:ea typeface="Calibri"/>
                <a:cs typeface="Calibri"/>
                <a:sym typeface="Calibri"/>
              </a:rPr>
              <a:t>     K. Ankith Kumar</a:t>
            </a:r>
            <a:r>
              <a:rPr lang="en-IN" sz="2400" b="1" dirty="0">
                <a:solidFill>
                  <a:schemeClr val="dk1"/>
                </a:solidFill>
                <a:latin typeface="Calibri"/>
                <a:ea typeface="Calibri"/>
                <a:cs typeface="Calibri"/>
                <a:sym typeface="Calibri"/>
              </a:rPr>
              <a:t>, B. Tech in CSE</a:t>
            </a:r>
          </a:p>
          <a:p>
            <a:pPr lvl="0">
              <a:buClr>
                <a:schemeClr val="dk1"/>
              </a:buClr>
              <a:buSzPts val="2400"/>
            </a:pPr>
            <a:r>
              <a:rPr lang="en-IN" sz="2400" b="1" dirty="0">
                <a:solidFill>
                  <a:schemeClr val="dk1"/>
                </a:solidFill>
                <a:latin typeface="Calibri"/>
                <a:ea typeface="Calibri"/>
                <a:cs typeface="Calibri"/>
                <a:sym typeface="Calibri"/>
              </a:rPr>
              <a:t>     ID: , Batch: 448</a:t>
            </a: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F5A8-4FE7-E0F9-EA71-CFAD8EB2CD7E}"/>
              </a:ext>
            </a:extLst>
          </p:cNvPr>
          <p:cNvSpPr>
            <a:spLocks noGrp="1"/>
          </p:cNvSpPr>
          <p:nvPr>
            <p:ph type="title"/>
          </p:nvPr>
        </p:nvSpPr>
        <p:spPr>
          <a:xfrm>
            <a:off x="838201" y="365125"/>
            <a:ext cx="5706374" cy="819569"/>
          </a:xfrm>
        </p:spPr>
        <p:txBody>
          <a:bodyPr>
            <a:normAutofit/>
          </a:bodyPr>
          <a:lstStyle/>
          <a:p>
            <a:r>
              <a:rPr lang="en-IN" sz="2900" b="1" dirty="0"/>
              <a:t>Objective of the Project</a:t>
            </a:r>
          </a:p>
        </p:txBody>
      </p:sp>
      <p:sp>
        <p:nvSpPr>
          <p:cNvPr id="3" name="Text Placeholder 2">
            <a:extLst>
              <a:ext uri="{FF2B5EF4-FFF2-40B4-BE49-F238E27FC236}">
                <a16:creationId xmlns:a16="http://schemas.microsoft.com/office/drawing/2014/main" id="{CAD38697-E05D-48C2-D9C4-DAEDB5FB71F9}"/>
              </a:ext>
            </a:extLst>
          </p:cNvPr>
          <p:cNvSpPr>
            <a:spLocks noGrp="1"/>
          </p:cNvSpPr>
          <p:nvPr>
            <p:ph type="body" idx="1"/>
          </p:nvPr>
        </p:nvSpPr>
        <p:spPr>
          <a:xfrm>
            <a:off x="718128" y="1527533"/>
            <a:ext cx="9885218" cy="2471813"/>
          </a:xfrm>
        </p:spPr>
        <p:txBody>
          <a:bodyPr>
            <a:normAutofit/>
          </a:bodyPr>
          <a:lstStyle/>
          <a:p>
            <a:r>
              <a:rPr lang="en-US" sz="2000" dirty="0"/>
              <a:t>The objective of this project is to analyze key business questions to uncover customer purchasing patterns, identify top-performing genres and artists, and support data-driven decision-making related to revenue, customer engagement, and market trends. Using MySQL concepts, queries were developed to extract meaningful insights from a set of systematically connected database tables. These tables were pre-created and populated using CSV files, enabling efficient and accurate data analysis.</a:t>
            </a:r>
            <a:endParaRPr lang="en-IN" sz="2000" dirty="0"/>
          </a:p>
        </p:txBody>
      </p:sp>
    </p:spTree>
    <p:extLst>
      <p:ext uri="{BB962C8B-B14F-4D97-AF65-F5344CB8AC3E}">
        <p14:creationId xmlns:p14="http://schemas.microsoft.com/office/powerpoint/2010/main" val="72007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C66D3-2F71-289E-022E-726697CF7E62}"/>
              </a:ext>
            </a:extLst>
          </p:cNvPr>
          <p:cNvSpPr>
            <a:spLocks noGrp="1"/>
          </p:cNvSpPr>
          <p:nvPr>
            <p:ph type="title"/>
          </p:nvPr>
        </p:nvSpPr>
        <p:spPr/>
        <p:txBody>
          <a:bodyPr>
            <a:normAutofit fontScale="90000"/>
          </a:bodyPr>
          <a:lstStyle/>
          <a:p>
            <a:r>
              <a:rPr lang="en-US" b="1" dirty="0"/>
              <a:t>ER Diagram and schema explanation</a:t>
            </a:r>
            <a:br>
              <a:rPr lang="en-US" dirty="0"/>
            </a:br>
            <a:endParaRPr lang="en-IN" dirty="0"/>
          </a:p>
        </p:txBody>
      </p:sp>
      <p:sp>
        <p:nvSpPr>
          <p:cNvPr id="3" name="Text Placeholder 2">
            <a:extLst>
              <a:ext uri="{FF2B5EF4-FFF2-40B4-BE49-F238E27FC236}">
                <a16:creationId xmlns:a16="http://schemas.microsoft.com/office/drawing/2014/main" id="{6B3E37B9-39AA-FE54-0A4A-0F4D5DC00847}"/>
              </a:ext>
            </a:extLst>
          </p:cNvPr>
          <p:cNvSpPr>
            <a:spLocks noGrp="1"/>
          </p:cNvSpPr>
          <p:nvPr>
            <p:ph type="body" idx="1"/>
          </p:nvPr>
        </p:nvSpPr>
        <p:spPr>
          <a:xfrm>
            <a:off x="838200" y="1102659"/>
            <a:ext cx="10515600" cy="5545431"/>
          </a:xfrm>
        </p:spPr>
        <p:txBody>
          <a:bodyPr/>
          <a:lstStyle/>
          <a:p>
            <a:pPr marL="114300" indent="0">
              <a:buNone/>
            </a:pPr>
            <a:endParaRPr lang="en-IN" dirty="0"/>
          </a:p>
        </p:txBody>
      </p:sp>
      <p:pic>
        <p:nvPicPr>
          <p:cNvPr id="5" name="Picture 4" descr="A screenshot of a computer&#10;&#10;AI-generated content may be incorrect.">
            <a:extLst>
              <a:ext uri="{FF2B5EF4-FFF2-40B4-BE49-F238E27FC236}">
                <a16:creationId xmlns:a16="http://schemas.microsoft.com/office/drawing/2014/main" id="{62326595-0CBD-6B7E-6208-3EAB42082921}"/>
              </a:ext>
            </a:extLst>
          </p:cNvPr>
          <p:cNvPicPr>
            <a:picLocks noChangeAspect="1"/>
          </p:cNvPicPr>
          <p:nvPr/>
        </p:nvPicPr>
        <p:blipFill>
          <a:blip r:embed="rId2"/>
          <a:stretch>
            <a:fillRect/>
          </a:stretch>
        </p:blipFill>
        <p:spPr>
          <a:xfrm>
            <a:off x="1014172" y="1246909"/>
            <a:ext cx="4427722" cy="5401181"/>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743D1D0-C17E-CB04-0B14-A3CA25058283}"/>
              </a:ext>
            </a:extLst>
          </p:cNvPr>
          <p:cNvPicPr>
            <a:picLocks noChangeAspect="1"/>
          </p:cNvPicPr>
          <p:nvPr/>
        </p:nvPicPr>
        <p:blipFill>
          <a:blip r:embed="rId3"/>
          <a:stretch>
            <a:fillRect/>
          </a:stretch>
        </p:blipFill>
        <p:spPr>
          <a:xfrm>
            <a:off x="7798730" y="1181312"/>
            <a:ext cx="2083573" cy="4255698"/>
          </a:xfrm>
          <a:prstGeom prst="rect">
            <a:avLst/>
          </a:prstGeom>
        </p:spPr>
      </p:pic>
    </p:spTree>
    <p:extLst>
      <p:ext uri="{BB962C8B-B14F-4D97-AF65-F5344CB8AC3E}">
        <p14:creationId xmlns:p14="http://schemas.microsoft.com/office/powerpoint/2010/main" val="2560249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BC8D6-3A50-CE1D-F540-6B82441A8DE7}"/>
              </a:ext>
            </a:extLst>
          </p:cNvPr>
          <p:cNvSpPr>
            <a:spLocks noGrp="1"/>
          </p:cNvSpPr>
          <p:nvPr>
            <p:ph type="title"/>
          </p:nvPr>
        </p:nvSpPr>
        <p:spPr/>
        <p:txBody>
          <a:bodyPr anchor="t">
            <a:normAutofit fontScale="90000"/>
          </a:bodyPr>
          <a:lstStyle/>
          <a:p>
            <a:r>
              <a:rPr lang="en-US" b="1" dirty="0"/>
              <a:t>Key analysis questions </a:t>
            </a:r>
            <a:br>
              <a:rPr lang="en-US" b="1" dirty="0"/>
            </a:br>
            <a:br>
              <a:rPr lang="en-US" b="1" dirty="0"/>
            </a:br>
            <a:r>
              <a:rPr lang="en-US" sz="2700" dirty="0"/>
              <a:t>The questions were centered around</a:t>
            </a:r>
            <a:br>
              <a:rPr lang="en-US" sz="2700" dirty="0"/>
            </a:br>
            <a:endParaRPr lang="en-IN" sz="2700" dirty="0"/>
          </a:p>
        </p:txBody>
      </p:sp>
      <p:sp>
        <p:nvSpPr>
          <p:cNvPr id="4" name="Rectangle 1">
            <a:extLst>
              <a:ext uri="{FF2B5EF4-FFF2-40B4-BE49-F238E27FC236}">
                <a16:creationId xmlns:a16="http://schemas.microsoft.com/office/drawing/2014/main" id="{2CE4401F-59FF-9269-2725-6807B96841F1}"/>
              </a:ext>
            </a:extLst>
          </p:cNvPr>
          <p:cNvSpPr>
            <a:spLocks noGrp="1" noChangeArrowheads="1"/>
          </p:cNvSpPr>
          <p:nvPr>
            <p:ph type="body" idx="1"/>
          </p:nvPr>
        </p:nvSpPr>
        <p:spPr bwMode="auto">
          <a:xfrm>
            <a:off x="838200" y="1500327"/>
            <a:ext cx="608371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Employee Hierarchy Analysis.</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Geographical Invoice Distribution.</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High-Value Transactions.</a:t>
            </a: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Revenue by City.</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Best Customer Identification.</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Genre-Based Customer Preferences (Rock Listeners).</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Top Rock Artists by Track Count.</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Track Duration Analysis.</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Customer Spending by Artist.</a:t>
            </a: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Most Popular Genre by Country.</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Top-Spending Customer by Country.</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4856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71555-051C-131F-15CB-21E602337FE7}"/>
              </a:ext>
            </a:extLst>
          </p:cNvPr>
          <p:cNvSpPr>
            <a:spLocks noGrp="1"/>
          </p:cNvSpPr>
          <p:nvPr>
            <p:ph type="title"/>
          </p:nvPr>
        </p:nvSpPr>
        <p:spPr/>
        <p:txBody>
          <a:bodyPr>
            <a:normAutofit fontScale="90000"/>
          </a:bodyPr>
          <a:lstStyle/>
          <a:p>
            <a:r>
              <a:rPr lang="en-US" b="1" dirty="0"/>
              <a:t>SQL query results with screenshots or summaries</a:t>
            </a:r>
            <a:br>
              <a:rPr lang="en-US" dirty="0"/>
            </a:br>
            <a:endParaRPr lang="en-IN" dirty="0"/>
          </a:p>
        </p:txBody>
      </p:sp>
      <p:sp>
        <p:nvSpPr>
          <p:cNvPr id="3" name="Text Placeholder 2">
            <a:extLst>
              <a:ext uri="{FF2B5EF4-FFF2-40B4-BE49-F238E27FC236}">
                <a16:creationId xmlns:a16="http://schemas.microsoft.com/office/drawing/2014/main" id="{0B23AB4E-C8AE-EA7B-903D-929CD97FF0CE}"/>
              </a:ext>
            </a:extLst>
          </p:cNvPr>
          <p:cNvSpPr>
            <a:spLocks noGrp="1"/>
          </p:cNvSpPr>
          <p:nvPr>
            <p:ph type="body" idx="1"/>
          </p:nvPr>
        </p:nvSpPr>
        <p:spPr/>
        <p:txBody>
          <a:bodyPr/>
          <a:lstStyle/>
          <a:p>
            <a:endParaRPr lang="en-IN" dirty="0"/>
          </a:p>
        </p:txBody>
      </p:sp>
      <p:pic>
        <p:nvPicPr>
          <p:cNvPr id="5" name="Picture 4" descr="A screenshot of a computer program&#10;&#10;AI-generated content may be incorrect.">
            <a:extLst>
              <a:ext uri="{FF2B5EF4-FFF2-40B4-BE49-F238E27FC236}">
                <a16:creationId xmlns:a16="http://schemas.microsoft.com/office/drawing/2014/main" id="{D61CC901-C2A9-161F-F932-D886F61D4285}"/>
              </a:ext>
            </a:extLst>
          </p:cNvPr>
          <p:cNvPicPr>
            <a:picLocks noChangeAspect="1"/>
          </p:cNvPicPr>
          <p:nvPr/>
        </p:nvPicPr>
        <p:blipFill>
          <a:blip r:embed="rId2"/>
          <a:stretch>
            <a:fillRect/>
          </a:stretch>
        </p:blipFill>
        <p:spPr>
          <a:xfrm>
            <a:off x="1087122" y="1270959"/>
            <a:ext cx="3701996" cy="4788452"/>
          </a:xfrm>
          <a:prstGeom prst="rect">
            <a:avLst/>
          </a:prstGeom>
        </p:spPr>
      </p:pic>
      <p:pic>
        <p:nvPicPr>
          <p:cNvPr id="7" name="Picture 6">
            <a:extLst>
              <a:ext uri="{FF2B5EF4-FFF2-40B4-BE49-F238E27FC236}">
                <a16:creationId xmlns:a16="http://schemas.microsoft.com/office/drawing/2014/main" id="{6E079F5B-166D-8EC0-3A7A-772B50D5AE9A}"/>
              </a:ext>
            </a:extLst>
          </p:cNvPr>
          <p:cNvPicPr>
            <a:picLocks noChangeAspect="1"/>
          </p:cNvPicPr>
          <p:nvPr/>
        </p:nvPicPr>
        <p:blipFill>
          <a:blip r:embed="rId3"/>
          <a:srcRect/>
          <a:stretch/>
        </p:blipFill>
        <p:spPr>
          <a:xfrm>
            <a:off x="5259033" y="1538676"/>
            <a:ext cx="3701995" cy="1367350"/>
          </a:xfrm>
          <a:prstGeom prst="rect">
            <a:avLst/>
          </a:prstGeom>
        </p:spPr>
      </p:pic>
      <p:pic>
        <p:nvPicPr>
          <p:cNvPr id="9" name="Picture 8">
            <a:extLst>
              <a:ext uri="{FF2B5EF4-FFF2-40B4-BE49-F238E27FC236}">
                <a16:creationId xmlns:a16="http://schemas.microsoft.com/office/drawing/2014/main" id="{1391054C-9225-7CD8-C553-E0E755CBA537}"/>
              </a:ext>
            </a:extLst>
          </p:cNvPr>
          <p:cNvPicPr>
            <a:picLocks noChangeAspect="1"/>
          </p:cNvPicPr>
          <p:nvPr/>
        </p:nvPicPr>
        <p:blipFill>
          <a:blip r:embed="rId4"/>
          <a:srcRect l="-1" r="54530" b="-906"/>
          <a:stretch>
            <a:fillRect/>
          </a:stretch>
        </p:blipFill>
        <p:spPr>
          <a:xfrm>
            <a:off x="5259033" y="3300904"/>
            <a:ext cx="3432385" cy="2776932"/>
          </a:xfrm>
          <a:prstGeom prst="rect">
            <a:avLst/>
          </a:prstGeom>
        </p:spPr>
      </p:pic>
      <p:sp>
        <p:nvSpPr>
          <p:cNvPr id="10" name="TextBox 9">
            <a:extLst>
              <a:ext uri="{FF2B5EF4-FFF2-40B4-BE49-F238E27FC236}">
                <a16:creationId xmlns:a16="http://schemas.microsoft.com/office/drawing/2014/main" id="{04FD72D4-F595-FAD7-9922-26CF5B531FFB}"/>
              </a:ext>
            </a:extLst>
          </p:cNvPr>
          <p:cNvSpPr txBox="1"/>
          <p:nvPr/>
        </p:nvSpPr>
        <p:spPr>
          <a:xfrm>
            <a:off x="786442" y="835815"/>
            <a:ext cx="10515600" cy="307777"/>
          </a:xfrm>
          <a:prstGeom prst="rect">
            <a:avLst/>
          </a:prstGeom>
          <a:noFill/>
        </p:spPr>
        <p:txBody>
          <a:bodyPr wrap="square" rtlCol="0">
            <a:spAutoFit/>
          </a:bodyPr>
          <a:lstStyle/>
          <a:p>
            <a:r>
              <a:rPr lang="en-US" b="1" dirty="0"/>
              <a:t>1. Who is the senior most employee based on job title? </a:t>
            </a:r>
            <a:endParaRPr lang="en-IN" b="1" dirty="0"/>
          </a:p>
        </p:txBody>
      </p:sp>
    </p:spTree>
    <p:extLst>
      <p:ext uri="{BB962C8B-B14F-4D97-AF65-F5344CB8AC3E}">
        <p14:creationId xmlns:p14="http://schemas.microsoft.com/office/powerpoint/2010/main" val="3331598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60723D-1881-CC42-FE3A-947017C67E8F}"/>
              </a:ext>
            </a:extLst>
          </p:cNvPr>
          <p:cNvSpPr txBox="1"/>
          <p:nvPr/>
        </p:nvSpPr>
        <p:spPr>
          <a:xfrm>
            <a:off x="724619" y="723131"/>
            <a:ext cx="6096000" cy="307777"/>
          </a:xfrm>
          <a:prstGeom prst="rect">
            <a:avLst/>
          </a:prstGeom>
          <a:noFill/>
        </p:spPr>
        <p:txBody>
          <a:bodyPr wrap="square">
            <a:spAutoFit/>
          </a:bodyPr>
          <a:lstStyle/>
          <a:p>
            <a:r>
              <a:rPr lang="en-US" b="1" dirty="0"/>
              <a:t>2. Which countries have the most Invoices? </a:t>
            </a:r>
            <a:endParaRPr lang="en-IN" b="1" dirty="0"/>
          </a:p>
        </p:txBody>
      </p:sp>
      <p:pic>
        <p:nvPicPr>
          <p:cNvPr id="7" name="Picture 6" descr="A screenshot of a computer code&#10;&#10;AI-generated content may be incorrect.">
            <a:extLst>
              <a:ext uri="{FF2B5EF4-FFF2-40B4-BE49-F238E27FC236}">
                <a16:creationId xmlns:a16="http://schemas.microsoft.com/office/drawing/2014/main" id="{D0AD3FA2-77EF-2223-57B8-FC3F11D97473}"/>
              </a:ext>
            </a:extLst>
          </p:cNvPr>
          <p:cNvPicPr>
            <a:picLocks noChangeAspect="1"/>
          </p:cNvPicPr>
          <p:nvPr/>
        </p:nvPicPr>
        <p:blipFill>
          <a:blip r:embed="rId2"/>
          <a:stretch>
            <a:fillRect/>
          </a:stretch>
        </p:blipFill>
        <p:spPr>
          <a:xfrm>
            <a:off x="860719" y="1202711"/>
            <a:ext cx="3025639" cy="2226289"/>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54683B2-A6F8-D01D-AC5C-C246C3875349}"/>
              </a:ext>
            </a:extLst>
          </p:cNvPr>
          <p:cNvPicPr>
            <a:picLocks noChangeAspect="1"/>
          </p:cNvPicPr>
          <p:nvPr/>
        </p:nvPicPr>
        <p:blipFill>
          <a:blip r:embed="rId3"/>
          <a:stretch>
            <a:fillRect/>
          </a:stretch>
        </p:blipFill>
        <p:spPr>
          <a:xfrm>
            <a:off x="5731203" y="1592488"/>
            <a:ext cx="2812321" cy="1637554"/>
          </a:xfrm>
          <a:prstGeom prst="rect">
            <a:avLst/>
          </a:prstGeom>
        </p:spPr>
      </p:pic>
    </p:spTree>
    <p:extLst>
      <p:ext uri="{BB962C8B-B14F-4D97-AF65-F5344CB8AC3E}">
        <p14:creationId xmlns:p14="http://schemas.microsoft.com/office/powerpoint/2010/main" val="3968903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50EC1-8331-87AC-D3F6-0BAAF206A99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F0CAF51-FCED-0732-8538-0F846CE7425A}"/>
              </a:ext>
            </a:extLst>
          </p:cNvPr>
          <p:cNvSpPr txBox="1"/>
          <p:nvPr/>
        </p:nvSpPr>
        <p:spPr>
          <a:xfrm>
            <a:off x="724619" y="723131"/>
            <a:ext cx="6096000" cy="307777"/>
          </a:xfrm>
          <a:prstGeom prst="rect">
            <a:avLst/>
          </a:prstGeom>
          <a:noFill/>
        </p:spPr>
        <p:txBody>
          <a:bodyPr wrap="square">
            <a:spAutoFit/>
          </a:bodyPr>
          <a:lstStyle/>
          <a:p>
            <a:r>
              <a:rPr lang="en-US" b="1" dirty="0"/>
              <a:t>3. What are the top 3 values of total invoice? </a:t>
            </a:r>
            <a:endParaRPr lang="en-IN" b="1" dirty="0"/>
          </a:p>
        </p:txBody>
      </p:sp>
      <p:pic>
        <p:nvPicPr>
          <p:cNvPr id="3" name="Picture 2" descr="A screenshot of a computer screen&#10;&#10;AI-generated content may be incorrect.">
            <a:extLst>
              <a:ext uri="{FF2B5EF4-FFF2-40B4-BE49-F238E27FC236}">
                <a16:creationId xmlns:a16="http://schemas.microsoft.com/office/drawing/2014/main" id="{7DA1C339-8CE4-F42F-6F3F-F8EA4EBD85B9}"/>
              </a:ext>
            </a:extLst>
          </p:cNvPr>
          <p:cNvPicPr>
            <a:picLocks noChangeAspect="1"/>
          </p:cNvPicPr>
          <p:nvPr/>
        </p:nvPicPr>
        <p:blipFill>
          <a:blip r:embed="rId2"/>
          <a:stretch>
            <a:fillRect/>
          </a:stretch>
        </p:blipFill>
        <p:spPr>
          <a:xfrm>
            <a:off x="722841" y="1477394"/>
            <a:ext cx="2275633" cy="1570606"/>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0B324E6-BEAB-82E0-7869-3F160DAFB490}"/>
              </a:ext>
            </a:extLst>
          </p:cNvPr>
          <p:cNvPicPr>
            <a:picLocks noChangeAspect="1"/>
          </p:cNvPicPr>
          <p:nvPr/>
        </p:nvPicPr>
        <p:blipFill>
          <a:blip r:embed="rId3"/>
          <a:stretch>
            <a:fillRect/>
          </a:stretch>
        </p:blipFill>
        <p:spPr>
          <a:xfrm>
            <a:off x="5262386" y="1477394"/>
            <a:ext cx="1403318" cy="1329025"/>
          </a:xfrm>
          <a:prstGeom prst="rect">
            <a:avLst/>
          </a:prstGeom>
        </p:spPr>
      </p:pic>
    </p:spTree>
    <p:extLst>
      <p:ext uri="{BB962C8B-B14F-4D97-AF65-F5344CB8AC3E}">
        <p14:creationId xmlns:p14="http://schemas.microsoft.com/office/powerpoint/2010/main" val="1901774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86CEB-D8CE-6F45-B7FD-C0C9748FA5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C60836B-1918-60F3-88F9-623AE2C3BEDD}"/>
              </a:ext>
            </a:extLst>
          </p:cNvPr>
          <p:cNvSpPr txBox="1"/>
          <p:nvPr/>
        </p:nvSpPr>
        <p:spPr>
          <a:xfrm>
            <a:off x="724618" y="723131"/>
            <a:ext cx="10501223" cy="738664"/>
          </a:xfrm>
          <a:prstGeom prst="rect">
            <a:avLst/>
          </a:prstGeom>
          <a:noFill/>
        </p:spPr>
        <p:txBody>
          <a:bodyPr wrap="square">
            <a:spAutoFit/>
          </a:bodyPr>
          <a:lstStyle/>
          <a:p>
            <a:r>
              <a:rPr lang="en-US" b="1" dirty="0"/>
              <a:t>4. Which city has the best customers? - We would like to throw a promotional Music Festival in the city we made the most money. Write a query that returns one city that has the highest sum of invoice totals. Return both the city name &amp; sum of all invoice totals. </a:t>
            </a:r>
            <a:endParaRPr lang="en-IN" b="1" dirty="0"/>
          </a:p>
        </p:txBody>
      </p:sp>
      <p:pic>
        <p:nvPicPr>
          <p:cNvPr id="3" name="Picture 2" descr="A screenshot of a computer code&#10;&#10;AI-generated content may be incorrect.">
            <a:extLst>
              <a:ext uri="{FF2B5EF4-FFF2-40B4-BE49-F238E27FC236}">
                <a16:creationId xmlns:a16="http://schemas.microsoft.com/office/drawing/2014/main" id="{07763E37-A7C8-3A1D-5991-54C6BDC78241}"/>
              </a:ext>
            </a:extLst>
          </p:cNvPr>
          <p:cNvPicPr>
            <a:picLocks noChangeAspect="1"/>
          </p:cNvPicPr>
          <p:nvPr/>
        </p:nvPicPr>
        <p:blipFill>
          <a:blip r:embed="rId2"/>
          <a:stretch>
            <a:fillRect/>
          </a:stretch>
        </p:blipFill>
        <p:spPr>
          <a:xfrm>
            <a:off x="601137" y="2102460"/>
            <a:ext cx="4003216" cy="206314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BF3B5BA4-3348-0690-94D5-56CA22E81A8B}"/>
              </a:ext>
            </a:extLst>
          </p:cNvPr>
          <p:cNvPicPr>
            <a:picLocks noChangeAspect="1"/>
          </p:cNvPicPr>
          <p:nvPr/>
        </p:nvPicPr>
        <p:blipFill>
          <a:blip r:embed="rId3"/>
          <a:stretch>
            <a:fillRect/>
          </a:stretch>
        </p:blipFill>
        <p:spPr>
          <a:xfrm>
            <a:off x="5975229" y="2769621"/>
            <a:ext cx="3024264" cy="728817"/>
          </a:xfrm>
          <a:prstGeom prst="rect">
            <a:avLst/>
          </a:prstGeom>
        </p:spPr>
      </p:pic>
    </p:spTree>
    <p:extLst>
      <p:ext uri="{BB962C8B-B14F-4D97-AF65-F5344CB8AC3E}">
        <p14:creationId xmlns:p14="http://schemas.microsoft.com/office/powerpoint/2010/main" val="394269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1B766-921B-0397-0B17-29BE246A93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9874F2-2756-A8C6-DC1C-DF16497E8E8B}"/>
              </a:ext>
            </a:extLst>
          </p:cNvPr>
          <p:cNvSpPr txBox="1"/>
          <p:nvPr/>
        </p:nvSpPr>
        <p:spPr>
          <a:xfrm>
            <a:off x="724618" y="723131"/>
            <a:ext cx="10892287" cy="523220"/>
          </a:xfrm>
          <a:prstGeom prst="rect">
            <a:avLst/>
          </a:prstGeom>
          <a:noFill/>
        </p:spPr>
        <p:txBody>
          <a:bodyPr wrap="square">
            <a:spAutoFit/>
          </a:bodyPr>
          <a:lstStyle/>
          <a:p>
            <a:r>
              <a:rPr lang="en-US" b="1" dirty="0"/>
              <a:t>5. Who is the best customer? - The customer who has spent the most money will be declared the best customer. Write a query that returns the person who has spent the most money.</a:t>
            </a:r>
            <a:endParaRPr lang="en-IN" b="1" dirty="0"/>
          </a:p>
        </p:txBody>
      </p:sp>
      <p:pic>
        <p:nvPicPr>
          <p:cNvPr id="3" name="Picture 2" descr="A screenshot of a computer code&#10;&#10;AI-generated content may be incorrect.">
            <a:extLst>
              <a:ext uri="{FF2B5EF4-FFF2-40B4-BE49-F238E27FC236}">
                <a16:creationId xmlns:a16="http://schemas.microsoft.com/office/drawing/2014/main" id="{1DFF6B2D-F1F5-B678-7674-D456EDE44D6B}"/>
              </a:ext>
            </a:extLst>
          </p:cNvPr>
          <p:cNvPicPr>
            <a:picLocks noChangeAspect="1"/>
          </p:cNvPicPr>
          <p:nvPr/>
        </p:nvPicPr>
        <p:blipFill>
          <a:blip r:embed="rId2"/>
          <a:stretch>
            <a:fillRect/>
          </a:stretch>
        </p:blipFill>
        <p:spPr>
          <a:xfrm>
            <a:off x="724618" y="1780450"/>
            <a:ext cx="4179891" cy="358056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ED1CA76B-C2FE-21C0-8938-D971725DF90B}"/>
              </a:ext>
            </a:extLst>
          </p:cNvPr>
          <p:cNvPicPr>
            <a:picLocks noChangeAspect="1"/>
          </p:cNvPicPr>
          <p:nvPr/>
        </p:nvPicPr>
        <p:blipFill>
          <a:blip r:embed="rId3"/>
          <a:srcRect l="4349" t="9366" r="1588"/>
          <a:stretch>
            <a:fillRect/>
          </a:stretch>
        </p:blipFill>
        <p:spPr>
          <a:xfrm>
            <a:off x="6096000" y="2576945"/>
            <a:ext cx="4378036" cy="747107"/>
          </a:xfrm>
          <a:prstGeom prst="rect">
            <a:avLst/>
          </a:prstGeom>
        </p:spPr>
      </p:pic>
    </p:spTree>
    <p:extLst>
      <p:ext uri="{BB962C8B-B14F-4D97-AF65-F5344CB8AC3E}">
        <p14:creationId xmlns:p14="http://schemas.microsoft.com/office/powerpoint/2010/main" val="3349261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8D5DB-8CD5-BF61-83E8-CF51735BC0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09BEE25-81BC-341A-B447-1678435025B5}"/>
              </a:ext>
            </a:extLst>
          </p:cNvPr>
          <p:cNvSpPr txBox="1"/>
          <p:nvPr/>
        </p:nvSpPr>
        <p:spPr>
          <a:xfrm>
            <a:off x="724618" y="723131"/>
            <a:ext cx="10869283" cy="523220"/>
          </a:xfrm>
          <a:prstGeom prst="rect">
            <a:avLst/>
          </a:prstGeom>
          <a:noFill/>
        </p:spPr>
        <p:txBody>
          <a:bodyPr wrap="square">
            <a:spAutoFit/>
          </a:bodyPr>
          <a:lstStyle/>
          <a:p>
            <a:r>
              <a:rPr lang="en-US" b="1" dirty="0"/>
              <a:t>6. Write a query to return the email, first name, last name, &amp; Genre of all Rock Music listeners. Return your list ordered alphabetically by email starting with A. </a:t>
            </a:r>
            <a:endParaRPr lang="en-IN" b="1" dirty="0"/>
          </a:p>
        </p:txBody>
      </p:sp>
      <p:pic>
        <p:nvPicPr>
          <p:cNvPr id="3" name="Picture 2" descr="A screenshot of a computer code&#10;&#10;AI-generated content may be incorrect.">
            <a:extLst>
              <a:ext uri="{FF2B5EF4-FFF2-40B4-BE49-F238E27FC236}">
                <a16:creationId xmlns:a16="http://schemas.microsoft.com/office/drawing/2014/main" id="{1BE4B76F-7BE5-E19B-531C-AB4B5CE87816}"/>
              </a:ext>
            </a:extLst>
          </p:cNvPr>
          <p:cNvPicPr>
            <a:picLocks noChangeAspect="1"/>
          </p:cNvPicPr>
          <p:nvPr/>
        </p:nvPicPr>
        <p:blipFill>
          <a:blip r:embed="rId2"/>
          <a:stretch>
            <a:fillRect/>
          </a:stretch>
        </p:blipFill>
        <p:spPr>
          <a:xfrm>
            <a:off x="724618" y="1833391"/>
            <a:ext cx="5050479" cy="361606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C121DDC-DD7E-D0E9-2B48-90AD167C363F}"/>
              </a:ext>
            </a:extLst>
          </p:cNvPr>
          <p:cNvPicPr>
            <a:picLocks noChangeAspect="1"/>
          </p:cNvPicPr>
          <p:nvPr/>
        </p:nvPicPr>
        <p:blipFill>
          <a:blip r:embed="rId3"/>
          <a:srcRect l="5312" t="343"/>
          <a:stretch>
            <a:fillRect/>
          </a:stretch>
        </p:blipFill>
        <p:spPr>
          <a:xfrm>
            <a:off x="6308436" y="1311564"/>
            <a:ext cx="3786909" cy="4692479"/>
          </a:xfrm>
          <a:prstGeom prst="rect">
            <a:avLst/>
          </a:prstGeom>
        </p:spPr>
      </p:pic>
    </p:spTree>
    <p:extLst>
      <p:ext uri="{BB962C8B-B14F-4D97-AF65-F5344CB8AC3E}">
        <p14:creationId xmlns:p14="http://schemas.microsoft.com/office/powerpoint/2010/main" val="468095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EFA1-AC0A-32F7-D837-2D48A7A66A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20FEF7-7950-DA8B-021F-6AC17411D5E9}"/>
              </a:ext>
            </a:extLst>
          </p:cNvPr>
          <p:cNvSpPr txBox="1"/>
          <p:nvPr/>
        </p:nvSpPr>
        <p:spPr>
          <a:xfrm>
            <a:off x="724619" y="723131"/>
            <a:ext cx="10852030" cy="523220"/>
          </a:xfrm>
          <a:prstGeom prst="rect">
            <a:avLst/>
          </a:prstGeom>
          <a:noFill/>
        </p:spPr>
        <p:txBody>
          <a:bodyPr wrap="square">
            <a:spAutoFit/>
          </a:bodyPr>
          <a:lstStyle/>
          <a:p>
            <a:r>
              <a:rPr lang="en-US" b="1" dirty="0"/>
              <a:t>7. Let's invite the artists who have written the most rock music in our dataset. Write a query that returns the Artist name and total track count of the top 10 rock bands.</a:t>
            </a:r>
            <a:endParaRPr lang="en-IN" b="1" dirty="0"/>
          </a:p>
        </p:txBody>
      </p:sp>
      <p:pic>
        <p:nvPicPr>
          <p:cNvPr id="3" name="Picture 2" descr="A screenshot of a computer program&#10;&#10;AI-generated content may be incorrect.">
            <a:extLst>
              <a:ext uri="{FF2B5EF4-FFF2-40B4-BE49-F238E27FC236}">
                <a16:creationId xmlns:a16="http://schemas.microsoft.com/office/drawing/2014/main" id="{CA8E557F-20CE-85C9-DEDC-975D37BAC2BD}"/>
              </a:ext>
            </a:extLst>
          </p:cNvPr>
          <p:cNvPicPr>
            <a:picLocks noChangeAspect="1"/>
          </p:cNvPicPr>
          <p:nvPr/>
        </p:nvPicPr>
        <p:blipFill>
          <a:blip r:embed="rId2"/>
          <a:stretch>
            <a:fillRect/>
          </a:stretch>
        </p:blipFill>
        <p:spPr>
          <a:xfrm>
            <a:off x="724619" y="1326223"/>
            <a:ext cx="5130823" cy="4705122"/>
          </a:xfrm>
          <a:prstGeom prst="rect">
            <a:avLst/>
          </a:prstGeom>
        </p:spPr>
      </p:pic>
      <p:pic>
        <p:nvPicPr>
          <p:cNvPr id="6" name="Picture 5" descr="A screenshot of a music list&#10;&#10;AI-generated content may be incorrect.">
            <a:extLst>
              <a:ext uri="{FF2B5EF4-FFF2-40B4-BE49-F238E27FC236}">
                <a16:creationId xmlns:a16="http://schemas.microsoft.com/office/drawing/2014/main" id="{7C96FD23-9B8E-C2D0-DE26-A387D642A6FE}"/>
              </a:ext>
            </a:extLst>
          </p:cNvPr>
          <p:cNvPicPr>
            <a:picLocks noChangeAspect="1"/>
          </p:cNvPicPr>
          <p:nvPr/>
        </p:nvPicPr>
        <p:blipFill>
          <a:blip r:embed="rId3"/>
          <a:srcRect l="-1" t="1664" r="2169"/>
          <a:stretch>
            <a:fillRect/>
          </a:stretch>
        </p:blipFill>
        <p:spPr>
          <a:xfrm>
            <a:off x="6690872" y="1976581"/>
            <a:ext cx="4004837" cy="3146347"/>
          </a:xfrm>
          <a:prstGeom prst="rect">
            <a:avLst/>
          </a:prstGeom>
        </p:spPr>
      </p:pic>
    </p:spTree>
    <p:extLst>
      <p:ext uri="{BB962C8B-B14F-4D97-AF65-F5344CB8AC3E}">
        <p14:creationId xmlns:p14="http://schemas.microsoft.com/office/powerpoint/2010/main" val="4154617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1AC98-FBBC-0E93-4745-FFBF423ECA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BC72F6-DDE4-02BA-5571-A30142B4A659}"/>
              </a:ext>
            </a:extLst>
          </p:cNvPr>
          <p:cNvSpPr txBox="1"/>
          <p:nvPr/>
        </p:nvSpPr>
        <p:spPr>
          <a:xfrm>
            <a:off x="724619" y="723131"/>
            <a:ext cx="11105072" cy="523220"/>
          </a:xfrm>
          <a:prstGeom prst="rect">
            <a:avLst/>
          </a:prstGeom>
          <a:noFill/>
        </p:spPr>
        <p:txBody>
          <a:bodyPr wrap="square">
            <a:spAutoFit/>
          </a:bodyPr>
          <a:lstStyle/>
          <a:p>
            <a:r>
              <a:rPr lang="en-US" b="1" dirty="0"/>
              <a:t>8. Return all the track names that have a song length longer than the average song length.- Return the Name and Milliseconds for each track. Order by the song length, with the longest songs listed first.</a:t>
            </a:r>
            <a:endParaRPr lang="en-IN" b="1" dirty="0"/>
          </a:p>
        </p:txBody>
      </p:sp>
      <p:pic>
        <p:nvPicPr>
          <p:cNvPr id="3" name="Picture 2" descr="A screenshot of a computer program&#10;&#10;AI-generated content may be incorrect.">
            <a:extLst>
              <a:ext uri="{FF2B5EF4-FFF2-40B4-BE49-F238E27FC236}">
                <a16:creationId xmlns:a16="http://schemas.microsoft.com/office/drawing/2014/main" id="{F9C4A0E2-2368-A674-5BBD-3B809C0C6A2C}"/>
              </a:ext>
            </a:extLst>
          </p:cNvPr>
          <p:cNvPicPr>
            <a:picLocks noChangeAspect="1"/>
          </p:cNvPicPr>
          <p:nvPr/>
        </p:nvPicPr>
        <p:blipFill>
          <a:blip r:embed="rId2"/>
          <a:stretch>
            <a:fillRect/>
          </a:stretch>
        </p:blipFill>
        <p:spPr>
          <a:xfrm>
            <a:off x="805132" y="1901641"/>
            <a:ext cx="3258868" cy="302609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1E1FEB7-9F2E-1A75-698C-40F73632608A}"/>
              </a:ext>
            </a:extLst>
          </p:cNvPr>
          <p:cNvPicPr>
            <a:picLocks noChangeAspect="1"/>
          </p:cNvPicPr>
          <p:nvPr/>
        </p:nvPicPr>
        <p:blipFill>
          <a:blip r:embed="rId3"/>
          <a:stretch>
            <a:fillRect/>
          </a:stretch>
        </p:blipFill>
        <p:spPr>
          <a:xfrm>
            <a:off x="4869135" y="1361150"/>
            <a:ext cx="3258867" cy="5189357"/>
          </a:xfrm>
          <a:prstGeom prst="rect">
            <a:avLst/>
          </a:prstGeom>
        </p:spPr>
      </p:pic>
    </p:spTree>
    <p:extLst>
      <p:ext uri="{BB962C8B-B14F-4D97-AF65-F5344CB8AC3E}">
        <p14:creationId xmlns:p14="http://schemas.microsoft.com/office/powerpoint/2010/main" val="1268468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A0E10-3E68-2E63-5AD5-F8339C37EB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B6867E-2E59-F0CD-73FE-55F6BB5D168C}"/>
              </a:ext>
            </a:extLst>
          </p:cNvPr>
          <p:cNvSpPr txBox="1"/>
          <p:nvPr/>
        </p:nvSpPr>
        <p:spPr>
          <a:xfrm>
            <a:off x="724618" y="723131"/>
            <a:ext cx="10338975" cy="523220"/>
          </a:xfrm>
          <a:prstGeom prst="rect">
            <a:avLst/>
          </a:prstGeom>
          <a:noFill/>
        </p:spPr>
        <p:txBody>
          <a:bodyPr wrap="square">
            <a:spAutoFit/>
          </a:bodyPr>
          <a:lstStyle/>
          <a:p>
            <a:r>
              <a:rPr lang="en-US" b="1" dirty="0"/>
              <a:t>9. Find how much amount is spent by each customer on artists? Write a query to return customer name, artist name and total spent</a:t>
            </a:r>
            <a:endParaRPr lang="en-IN" b="1" dirty="0"/>
          </a:p>
        </p:txBody>
      </p:sp>
      <p:pic>
        <p:nvPicPr>
          <p:cNvPr id="3" name="Picture 2" descr="A screenshot of a computer program&#10;&#10;AI-generated content may be incorrect.">
            <a:extLst>
              <a:ext uri="{FF2B5EF4-FFF2-40B4-BE49-F238E27FC236}">
                <a16:creationId xmlns:a16="http://schemas.microsoft.com/office/drawing/2014/main" id="{9AE5B5D5-E0C1-D475-3D44-570865682503}"/>
              </a:ext>
            </a:extLst>
          </p:cNvPr>
          <p:cNvPicPr>
            <a:picLocks noChangeAspect="1"/>
          </p:cNvPicPr>
          <p:nvPr/>
        </p:nvPicPr>
        <p:blipFill>
          <a:blip r:embed="rId2"/>
          <a:stretch>
            <a:fillRect/>
          </a:stretch>
        </p:blipFill>
        <p:spPr>
          <a:xfrm>
            <a:off x="724618" y="1653309"/>
            <a:ext cx="4994586" cy="3984869"/>
          </a:xfrm>
          <a:prstGeom prst="rect">
            <a:avLst/>
          </a:prstGeom>
        </p:spPr>
      </p:pic>
      <p:pic>
        <p:nvPicPr>
          <p:cNvPr id="6" name="Picture 5" descr="A screenshot of a music list&#10;&#10;AI-generated content may be incorrect.">
            <a:extLst>
              <a:ext uri="{FF2B5EF4-FFF2-40B4-BE49-F238E27FC236}">
                <a16:creationId xmlns:a16="http://schemas.microsoft.com/office/drawing/2014/main" id="{0453B2E2-183D-8CA6-60C5-CA974F721E21}"/>
              </a:ext>
            </a:extLst>
          </p:cNvPr>
          <p:cNvPicPr>
            <a:picLocks noChangeAspect="1"/>
          </p:cNvPicPr>
          <p:nvPr/>
        </p:nvPicPr>
        <p:blipFill>
          <a:blip r:embed="rId3"/>
          <a:stretch>
            <a:fillRect/>
          </a:stretch>
        </p:blipFill>
        <p:spPr>
          <a:xfrm>
            <a:off x="6639547" y="1246351"/>
            <a:ext cx="4133053" cy="4804328"/>
          </a:xfrm>
          <a:prstGeom prst="rect">
            <a:avLst/>
          </a:prstGeom>
        </p:spPr>
      </p:pic>
    </p:spTree>
    <p:extLst>
      <p:ext uri="{BB962C8B-B14F-4D97-AF65-F5344CB8AC3E}">
        <p14:creationId xmlns:p14="http://schemas.microsoft.com/office/powerpoint/2010/main" val="21651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5AC4-23B2-2875-9893-438303CFB3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3095939-4BEC-F0A0-5D33-2E65C26BFFAB}"/>
              </a:ext>
            </a:extLst>
          </p:cNvPr>
          <p:cNvSpPr txBox="1"/>
          <p:nvPr/>
        </p:nvSpPr>
        <p:spPr>
          <a:xfrm>
            <a:off x="724619" y="723131"/>
            <a:ext cx="10788770" cy="738664"/>
          </a:xfrm>
          <a:prstGeom prst="rect">
            <a:avLst/>
          </a:prstGeom>
          <a:noFill/>
        </p:spPr>
        <p:txBody>
          <a:bodyPr wrap="square">
            <a:spAutoFit/>
          </a:bodyPr>
          <a:lstStyle/>
          <a:p>
            <a:r>
              <a:rPr lang="en-US" b="1" dirty="0"/>
              <a:t>10. We want to find out the most popular music Genre for each country. We determine the most -- popular genre as the genre with the highest number of purchases. Write a query that returns each country along with the top Genre. For countries where the maximum number of purchases is shared, return all Genres </a:t>
            </a:r>
            <a:endParaRPr lang="en-IN" b="1" dirty="0"/>
          </a:p>
        </p:txBody>
      </p:sp>
      <p:pic>
        <p:nvPicPr>
          <p:cNvPr id="3" name="Picture 2" descr="A screenshot of a computer code&#10;&#10;AI-generated content may be incorrect.">
            <a:extLst>
              <a:ext uri="{FF2B5EF4-FFF2-40B4-BE49-F238E27FC236}">
                <a16:creationId xmlns:a16="http://schemas.microsoft.com/office/drawing/2014/main" id="{66307D92-BB26-3486-1240-CD0D31DC585E}"/>
              </a:ext>
            </a:extLst>
          </p:cNvPr>
          <p:cNvPicPr>
            <a:picLocks noChangeAspect="1"/>
          </p:cNvPicPr>
          <p:nvPr/>
        </p:nvPicPr>
        <p:blipFill>
          <a:blip r:embed="rId2"/>
          <a:stretch>
            <a:fillRect/>
          </a:stretch>
        </p:blipFill>
        <p:spPr>
          <a:xfrm>
            <a:off x="523473" y="2533296"/>
            <a:ext cx="3206483" cy="2329317"/>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A33B4559-25FF-0006-877B-ADD3B360CE03}"/>
              </a:ext>
            </a:extLst>
          </p:cNvPr>
          <p:cNvPicPr>
            <a:picLocks noChangeAspect="1"/>
          </p:cNvPicPr>
          <p:nvPr/>
        </p:nvPicPr>
        <p:blipFill>
          <a:blip r:embed="rId3"/>
          <a:stretch>
            <a:fillRect/>
          </a:stretch>
        </p:blipFill>
        <p:spPr>
          <a:xfrm>
            <a:off x="3881365" y="1734875"/>
            <a:ext cx="3434156" cy="4566249"/>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395DF14-DF38-C218-DA2A-7D84F6862B99}"/>
              </a:ext>
            </a:extLst>
          </p:cNvPr>
          <p:cNvPicPr>
            <a:picLocks noChangeAspect="1"/>
          </p:cNvPicPr>
          <p:nvPr/>
        </p:nvPicPr>
        <p:blipFill>
          <a:blip r:embed="rId4"/>
          <a:stretch>
            <a:fillRect/>
          </a:stretch>
        </p:blipFill>
        <p:spPr>
          <a:xfrm>
            <a:off x="7679366" y="1536412"/>
            <a:ext cx="3434156" cy="4598457"/>
          </a:xfrm>
          <a:prstGeom prst="rect">
            <a:avLst/>
          </a:prstGeom>
        </p:spPr>
      </p:pic>
    </p:spTree>
    <p:extLst>
      <p:ext uri="{BB962C8B-B14F-4D97-AF65-F5344CB8AC3E}">
        <p14:creationId xmlns:p14="http://schemas.microsoft.com/office/powerpoint/2010/main" val="4028427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7737-AEB2-C0D9-1BC6-1C74E430997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DE1842-F060-CCD7-E95F-63199AEA3491}"/>
              </a:ext>
            </a:extLst>
          </p:cNvPr>
          <p:cNvSpPr txBox="1"/>
          <p:nvPr/>
        </p:nvSpPr>
        <p:spPr>
          <a:xfrm>
            <a:off x="724619" y="723131"/>
            <a:ext cx="11007306" cy="738664"/>
          </a:xfrm>
          <a:prstGeom prst="rect">
            <a:avLst/>
          </a:prstGeom>
          <a:noFill/>
        </p:spPr>
        <p:txBody>
          <a:bodyPr wrap="square">
            <a:spAutoFit/>
          </a:bodyPr>
          <a:lstStyle/>
          <a:p>
            <a:r>
              <a:rPr lang="en-US" b="1" dirty="0"/>
              <a:t>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lang="en-IN" b="1" dirty="0"/>
          </a:p>
        </p:txBody>
      </p:sp>
      <p:pic>
        <p:nvPicPr>
          <p:cNvPr id="3" name="Picture 2" descr="A screenshot of a computer code&#10;&#10;AI-generated content may be incorrect.">
            <a:extLst>
              <a:ext uri="{FF2B5EF4-FFF2-40B4-BE49-F238E27FC236}">
                <a16:creationId xmlns:a16="http://schemas.microsoft.com/office/drawing/2014/main" id="{B7F6AB61-8DEB-E599-CDDC-23AC392E6715}"/>
              </a:ext>
            </a:extLst>
          </p:cNvPr>
          <p:cNvPicPr>
            <a:picLocks noChangeAspect="1"/>
          </p:cNvPicPr>
          <p:nvPr/>
        </p:nvPicPr>
        <p:blipFill>
          <a:blip r:embed="rId2"/>
          <a:stretch>
            <a:fillRect/>
          </a:stretch>
        </p:blipFill>
        <p:spPr>
          <a:xfrm>
            <a:off x="724619" y="1713781"/>
            <a:ext cx="3918669" cy="3945147"/>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C0325C0F-D087-58FC-A20F-32469D3FB7D8}"/>
              </a:ext>
            </a:extLst>
          </p:cNvPr>
          <p:cNvPicPr>
            <a:picLocks noChangeAspect="1"/>
          </p:cNvPicPr>
          <p:nvPr/>
        </p:nvPicPr>
        <p:blipFill>
          <a:blip r:embed="rId3"/>
          <a:stretch>
            <a:fillRect/>
          </a:stretch>
        </p:blipFill>
        <p:spPr>
          <a:xfrm>
            <a:off x="5040103" y="1713781"/>
            <a:ext cx="1688501" cy="1395827"/>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ECFE274F-887C-B900-BA4E-57A20FACB44A}"/>
              </a:ext>
            </a:extLst>
          </p:cNvPr>
          <p:cNvPicPr>
            <a:picLocks noChangeAspect="1"/>
          </p:cNvPicPr>
          <p:nvPr/>
        </p:nvPicPr>
        <p:blipFill>
          <a:blip r:embed="rId4"/>
          <a:stretch>
            <a:fillRect/>
          </a:stretch>
        </p:blipFill>
        <p:spPr>
          <a:xfrm>
            <a:off x="7125419" y="1292575"/>
            <a:ext cx="3477239" cy="4842294"/>
          </a:xfrm>
          <a:prstGeom prst="rect">
            <a:avLst/>
          </a:prstGeom>
        </p:spPr>
      </p:pic>
    </p:spTree>
    <p:extLst>
      <p:ext uri="{BB962C8B-B14F-4D97-AF65-F5344CB8AC3E}">
        <p14:creationId xmlns:p14="http://schemas.microsoft.com/office/powerpoint/2010/main" val="2348526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8D087-0582-E350-C213-2850AB8D690C}"/>
              </a:ext>
            </a:extLst>
          </p:cNvPr>
          <p:cNvSpPr>
            <a:spLocks noGrp="1"/>
          </p:cNvSpPr>
          <p:nvPr>
            <p:ph type="title"/>
          </p:nvPr>
        </p:nvSpPr>
        <p:spPr/>
        <p:txBody>
          <a:bodyPr anchor="t">
            <a:normAutofit fontScale="90000"/>
          </a:bodyPr>
          <a:lstStyle/>
          <a:p>
            <a:r>
              <a:rPr lang="en-US" b="1" dirty="0"/>
              <a:t>Final business insights and recommendations</a:t>
            </a:r>
            <a:br>
              <a:rPr lang="en-US" dirty="0"/>
            </a:br>
            <a:endParaRPr lang="en-IN" dirty="0"/>
          </a:p>
        </p:txBody>
      </p:sp>
      <p:sp>
        <p:nvSpPr>
          <p:cNvPr id="3" name="Text Placeholder 2">
            <a:extLst>
              <a:ext uri="{FF2B5EF4-FFF2-40B4-BE49-F238E27FC236}">
                <a16:creationId xmlns:a16="http://schemas.microsoft.com/office/drawing/2014/main" id="{BF4C407B-DFEE-87E8-C360-7C6470937A44}"/>
              </a:ext>
            </a:extLst>
          </p:cNvPr>
          <p:cNvSpPr>
            <a:spLocks noGrp="1"/>
          </p:cNvSpPr>
          <p:nvPr>
            <p:ph type="body" idx="1"/>
          </p:nvPr>
        </p:nvSpPr>
        <p:spPr/>
        <p:txBody>
          <a:bodyPr>
            <a:normAutofit/>
          </a:bodyPr>
          <a:lstStyle/>
          <a:p>
            <a:pPr marL="114300" indent="0">
              <a:buNone/>
            </a:pPr>
            <a:r>
              <a:rPr lang="en-US" sz="1800" b="1" dirty="0"/>
              <a:t>Key Business Insights</a:t>
            </a:r>
            <a:endParaRPr lang="en-US" sz="1800" dirty="0"/>
          </a:p>
          <a:p>
            <a:r>
              <a:rPr lang="en-US" sz="1800" dirty="0"/>
              <a:t>Rock is one of the </a:t>
            </a:r>
            <a:r>
              <a:rPr lang="en-US" sz="1800" b="1" dirty="0"/>
              <a:t>most popular genres</a:t>
            </a:r>
            <a:r>
              <a:rPr lang="en-US" sz="1800" dirty="0"/>
              <a:t>, with high customer engagement.</a:t>
            </a:r>
          </a:p>
          <a:p>
            <a:r>
              <a:rPr lang="en-US" sz="1800" dirty="0"/>
              <a:t>A small group of </a:t>
            </a:r>
            <a:r>
              <a:rPr lang="en-US" sz="1800" b="1" dirty="0"/>
              <a:t>top customers contributes a large share of revenue</a:t>
            </a:r>
            <a:r>
              <a:rPr lang="en-US" sz="1800" dirty="0"/>
              <a:t>.</a:t>
            </a:r>
          </a:p>
          <a:p>
            <a:r>
              <a:rPr lang="en-US" sz="1800" dirty="0"/>
              <a:t>Certain </a:t>
            </a:r>
            <a:r>
              <a:rPr lang="en-US" sz="1800" b="1" dirty="0"/>
              <a:t>cities and countries generate higher invoice totals</a:t>
            </a:r>
            <a:r>
              <a:rPr lang="en-US" sz="1800" dirty="0"/>
              <a:t>, indicating strong regional markets.</a:t>
            </a:r>
          </a:p>
          <a:p>
            <a:r>
              <a:rPr lang="en-US" sz="1800" dirty="0"/>
              <a:t>A few </a:t>
            </a:r>
            <a:r>
              <a:rPr lang="en-US" sz="1800" b="1" dirty="0"/>
              <a:t>artists and albums drive most of the purchases</a:t>
            </a:r>
            <a:r>
              <a:rPr lang="en-US" sz="1800" dirty="0"/>
              <a:t>, especially in Rock music.</a:t>
            </a:r>
          </a:p>
          <a:p>
            <a:r>
              <a:rPr lang="en-US" sz="1800" dirty="0"/>
              <a:t>Customers tend to spend more on </a:t>
            </a:r>
            <a:r>
              <a:rPr lang="en-US" sz="1800" b="1" dirty="0"/>
              <a:t>longer tracks and popular genres</a:t>
            </a:r>
            <a:r>
              <a:rPr lang="en-US" sz="1800" dirty="0"/>
              <a:t>.</a:t>
            </a:r>
          </a:p>
          <a:p>
            <a:pPr marL="114300" indent="0">
              <a:buNone/>
            </a:pPr>
            <a:r>
              <a:rPr lang="en-US" sz="1800" b="1" dirty="0"/>
              <a:t>Business Recommendations</a:t>
            </a:r>
            <a:endParaRPr lang="en-US" sz="1800" dirty="0"/>
          </a:p>
          <a:p>
            <a:r>
              <a:rPr lang="en-US" sz="1800" dirty="0"/>
              <a:t>Focus marketing campaigns on </a:t>
            </a:r>
            <a:r>
              <a:rPr lang="en-US" sz="1800" b="1" dirty="0"/>
              <a:t>top-performing genres (Rock)</a:t>
            </a:r>
            <a:r>
              <a:rPr lang="en-US" sz="1800" dirty="0"/>
              <a:t>.</a:t>
            </a:r>
          </a:p>
          <a:p>
            <a:r>
              <a:rPr lang="en-US" sz="1800" dirty="0"/>
              <a:t>Organize </a:t>
            </a:r>
            <a:r>
              <a:rPr lang="en-US" sz="1800" b="1" dirty="0"/>
              <a:t>music festivals or promotions</a:t>
            </a:r>
            <a:r>
              <a:rPr lang="en-US" sz="1800" dirty="0"/>
              <a:t> in high-revenue cities.</a:t>
            </a:r>
          </a:p>
          <a:p>
            <a:r>
              <a:rPr lang="en-US" sz="1800" dirty="0"/>
              <a:t>Provide </a:t>
            </a:r>
            <a:r>
              <a:rPr lang="en-US" sz="1800" b="1" dirty="0"/>
              <a:t>loyalty rewards</a:t>
            </a:r>
            <a:r>
              <a:rPr lang="en-US" sz="1800" dirty="0"/>
              <a:t> to high-spending customers.</a:t>
            </a:r>
          </a:p>
          <a:p>
            <a:r>
              <a:rPr lang="en-US" sz="1800" dirty="0"/>
              <a:t>Promote </a:t>
            </a:r>
            <a:r>
              <a:rPr lang="en-US" sz="1800" b="1" dirty="0"/>
              <a:t>top artists and albums</a:t>
            </a:r>
            <a:r>
              <a:rPr lang="en-US" sz="1800" dirty="0"/>
              <a:t> to increase sales.</a:t>
            </a:r>
          </a:p>
          <a:p>
            <a:r>
              <a:rPr lang="en-US" sz="1800" dirty="0"/>
              <a:t>Use regional insights to plan </a:t>
            </a:r>
            <a:r>
              <a:rPr lang="en-US" sz="1800" b="1" dirty="0"/>
              <a:t>country-specific offers</a:t>
            </a:r>
            <a:r>
              <a:rPr lang="en-US" sz="1800" dirty="0"/>
              <a:t>.</a:t>
            </a:r>
          </a:p>
          <a:p>
            <a:endParaRPr lang="en-IN" sz="1800" dirty="0"/>
          </a:p>
        </p:txBody>
      </p:sp>
    </p:spTree>
    <p:extLst>
      <p:ext uri="{BB962C8B-B14F-4D97-AF65-F5344CB8AC3E}">
        <p14:creationId xmlns:p14="http://schemas.microsoft.com/office/powerpoint/2010/main" val="4205137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52A79-21D0-7719-7584-755DC235AA41}"/>
              </a:ext>
            </a:extLst>
          </p:cNvPr>
          <p:cNvSpPr>
            <a:spLocks noGrp="1"/>
          </p:cNvSpPr>
          <p:nvPr>
            <p:ph type="title"/>
          </p:nvPr>
        </p:nvSpPr>
        <p:spPr/>
        <p:txBody>
          <a:bodyPr>
            <a:normAutofit fontScale="90000"/>
          </a:bodyPr>
          <a:lstStyle/>
          <a:p>
            <a:r>
              <a:rPr lang="en-US" b="1" dirty="0"/>
              <a:t>Conclusion (Key finding overall) </a:t>
            </a:r>
            <a:br>
              <a:rPr lang="en-US" dirty="0"/>
            </a:br>
            <a:endParaRPr lang="en-IN" dirty="0"/>
          </a:p>
        </p:txBody>
      </p:sp>
      <p:sp>
        <p:nvSpPr>
          <p:cNvPr id="3" name="Text Placeholder 2">
            <a:extLst>
              <a:ext uri="{FF2B5EF4-FFF2-40B4-BE49-F238E27FC236}">
                <a16:creationId xmlns:a16="http://schemas.microsoft.com/office/drawing/2014/main" id="{25BF68E9-54EC-7C27-33DE-FB9E5F1277F7}"/>
              </a:ext>
            </a:extLst>
          </p:cNvPr>
          <p:cNvSpPr>
            <a:spLocks noGrp="1"/>
          </p:cNvSpPr>
          <p:nvPr>
            <p:ph type="body" idx="1"/>
          </p:nvPr>
        </p:nvSpPr>
        <p:spPr/>
        <p:txBody>
          <a:bodyPr>
            <a:normAutofit/>
          </a:bodyPr>
          <a:lstStyle/>
          <a:p>
            <a:r>
              <a:rPr lang="en-US" sz="2000" dirty="0"/>
              <a:t>Customer purchasing behavior varies significantly by </a:t>
            </a:r>
            <a:r>
              <a:rPr lang="en-US" sz="2000" b="1" dirty="0"/>
              <a:t>genre, city, and country</a:t>
            </a:r>
            <a:r>
              <a:rPr lang="en-US" sz="2000" dirty="0"/>
              <a:t>.</a:t>
            </a:r>
          </a:p>
          <a:p>
            <a:r>
              <a:rPr lang="en-US" sz="2000" b="1" dirty="0"/>
              <a:t>Rock music dominates</a:t>
            </a:r>
            <a:r>
              <a:rPr lang="en-US" sz="2000" dirty="0"/>
              <a:t> in terms of popularity and revenue contribution.</a:t>
            </a:r>
          </a:p>
          <a:p>
            <a:r>
              <a:rPr lang="en-US" sz="2000" dirty="0"/>
              <a:t>A limited number of </a:t>
            </a:r>
            <a:r>
              <a:rPr lang="en-US" sz="2000" b="1" dirty="0"/>
              <a:t>customers and artists drive maximum business value</a:t>
            </a:r>
            <a:r>
              <a:rPr lang="en-US" sz="2000" dirty="0"/>
              <a:t>.</a:t>
            </a:r>
          </a:p>
          <a:p>
            <a:r>
              <a:rPr lang="en-US" sz="2000" dirty="0"/>
              <a:t>SQL-based analysis helped convert raw data into </a:t>
            </a:r>
            <a:r>
              <a:rPr lang="en-US" sz="2000" b="1" dirty="0"/>
              <a:t>actionable business insights</a:t>
            </a:r>
            <a:r>
              <a:rPr lang="en-US" sz="2000" dirty="0"/>
              <a:t>.</a:t>
            </a:r>
          </a:p>
          <a:p>
            <a:r>
              <a:rPr lang="en-US" sz="2000" dirty="0"/>
              <a:t>The project demonstrates how </a:t>
            </a:r>
            <a:r>
              <a:rPr lang="en-US" sz="2000" b="1" dirty="0"/>
              <a:t>data-driven decisions</a:t>
            </a:r>
            <a:r>
              <a:rPr lang="en-US" sz="2000" dirty="0"/>
              <a:t> can improve revenue and customer engagement.</a:t>
            </a:r>
          </a:p>
        </p:txBody>
      </p:sp>
    </p:spTree>
    <p:extLst>
      <p:ext uri="{BB962C8B-B14F-4D97-AF65-F5344CB8AC3E}">
        <p14:creationId xmlns:p14="http://schemas.microsoft.com/office/powerpoint/2010/main" val="1695585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9825-8471-FDD0-9765-37AB064425C1}"/>
              </a:ext>
            </a:extLst>
          </p:cNvPr>
          <p:cNvSpPr>
            <a:spLocks noGrp="1"/>
          </p:cNvSpPr>
          <p:nvPr>
            <p:ph type="title"/>
          </p:nvPr>
        </p:nvSpPr>
        <p:spPr/>
        <p:txBody>
          <a:bodyPr anchor="t">
            <a:normAutofit fontScale="90000"/>
          </a:bodyPr>
          <a:lstStyle/>
          <a:p>
            <a:pPr lvl="0" indent="-431800"/>
            <a:r>
              <a:rPr lang="en-US" b="1" dirty="0"/>
              <a:t>Q&amp;A Slide </a:t>
            </a:r>
            <a:br>
              <a:rPr lang="en-US" dirty="0"/>
            </a:br>
            <a:br>
              <a:rPr lang="en-IN" dirty="0"/>
            </a:br>
            <a:endParaRPr lang="en-IN" dirty="0"/>
          </a:p>
        </p:txBody>
      </p:sp>
      <p:sp>
        <p:nvSpPr>
          <p:cNvPr id="3" name="Text Placeholder 2">
            <a:extLst>
              <a:ext uri="{FF2B5EF4-FFF2-40B4-BE49-F238E27FC236}">
                <a16:creationId xmlns:a16="http://schemas.microsoft.com/office/drawing/2014/main" id="{49F762EB-77CB-4D61-0542-29B71D5A9078}"/>
              </a:ext>
            </a:extLst>
          </p:cNvPr>
          <p:cNvSpPr>
            <a:spLocks noGrp="1"/>
          </p:cNvSpPr>
          <p:nvPr>
            <p:ph type="body" idx="1"/>
          </p:nvPr>
        </p:nvSpPr>
        <p:spPr/>
        <p:txBody>
          <a:bodyPr>
            <a:normAutofit/>
          </a:bodyPr>
          <a:lstStyle/>
          <a:p>
            <a:pPr marL="114300" indent="0">
              <a:buNone/>
            </a:pPr>
            <a:r>
              <a:rPr lang="en-US" sz="2000" dirty="0"/>
              <a:t>We would be happy to answer any questions related to:</a:t>
            </a:r>
          </a:p>
          <a:p>
            <a:r>
              <a:rPr lang="en-US" sz="2000" dirty="0"/>
              <a:t>Database design &amp; relationships</a:t>
            </a:r>
          </a:p>
          <a:p>
            <a:r>
              <a:rPr lang="en-US" sz="2000" dirty="0"/>
              <a:t>SQL queries and logic used</a:t>
            </a:r>
          </a:p>
          <a:p>
            <a:r>
              <a:rPr lang="en-US" sz="2000" dirty="0"/>
              <a:t>Business insights derived from the data</a:t>
            </a:r>
          </a:p>
          <a:p>
            <a:r>
              <a:rPr lang="en-US" sz="2000" dirty="0"/>
              <a:t>Challenges faced during the project</a:t>
            </a:r>
          </a:p>
        </p:txBody>
      </p:sp>
    </p:spTree>
    <p:extLst>
      <p:ext uri="{BB962C8B-B14F-4D97-AF65-F5344CB8AC3E}">
        <p14:creationId xmlns:p14="http://schemas.microsoft.com/office/powerpoint/2010/main" val="2417627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33CA7-E0D9-6572-2E75-AF6D2CDFC90F}"/>
              </a:ext>
            </a:extLst>
          </p:cNvPr>
          <p:cNvSpPr>
            <a:spLocks noGrp="1"/>
          </p:cNvSpPr>
          <p:nvPr>
            <p:ph type="title"/>
          </p:nvPr>
        </p:nvSpPr>
        <p:spPr/>
        <p:txBody>
          <a:bodyPr anchor="t">
            <a:normAutofit fontScale="90000"/>
          </a:bodyPr>
          <a:lstStyle/>
          <a:p>
            <a:r>
              <a:rPr lang="en-US" b="1" dirty="0"/>
              <a:t>Our Experience/Challenges working on SQL – Data Analysis Project.</a:t>
            </a:r>
            <a:br>
              <a:rPr lang="en-US" dirty="0"/>
            </a:br>
            <a:endParaRPr lang="en-IN" dirty="0"/>
          </a:p>
        </p:txBody>
      </p:sp>
      <p:sp>
        <p:nvSpPr>
          <p:cNvPr id="3" name="Text Placeholder 2">
            <a:extLst>
              <a:ext uri="{FF2B5EF4-FFF2-40B4-BE49-F238E27FC236}">
                <a16:creationId xmlns:a16="http://schemas.microsoft.com/office/drawing/2014/main" id="{1F7B1333-4B51-9CA1-25E0-8D51B3EBCADB}"/>
              </a:ext>
            </a:extLst>
          </p:cNvPr>
          <p:cNvSpPr>
            <a:spLocks noGrp="1"/>
          </p:cNvSpPr>
          <p:nvPr>
            <p:ph type="body" idx="1"/>
          </p:nvPr>
        </p:nvSpPr>
        <p:spPr>
          <a:xfrm>
            <a:off x="507999" y="1348509"/>
            <a:ext cx="9996055" cy="4245336"/>
          </a:xfrm>
        </p:spPr>
        <p:txBody>
          <a:bodyPr>
            <a:noAutofit/>
          </a:bodyPr>
          <a:lstStyle/>
          <a:p>
            <a:pPr marL="114300" indent="0">
              <a:buNone/>
            </a:pPr>
            <a:r>
              <a:rPr lang="en-US" sz="2000" b="1" dirty="0"/>
              <a:t>Our Experience</a:t>
            </a:r>
            <a:endParaRPr lang="en-US" sz="2000" dirty="0"/>
          </a:p>
          <a:p>
            <a:r>
              <a:rPr lang="en-US" sz="2000" dirty="0"/>
              <a:t>Gained hands-on experience in </a:t>
            </a:r>
            <a:r>
              <a:rPr lang="en-US" sz="2000" b="1" dirty="0"/>
              <a:t>SQL queries, joins, and aggregations</a:t>
            </a:r>
            <a:r>
              <a:rPr lang="en-US" sz="2000" dirty="0"/>
              <a:t>.</a:t>
            </a:r>
          </a:p>
          <a:p>
            <a:r>
              <a:rPr lang="en-US" sz="2000" dirty="0"/>
              <a:t>Learned to solve </a:t>
            </a:r>
            <a:r>
              <a:rPr lang="en-US" sz="2000" b="1" dirty="0"/>
              <a:t>real-world business problems using data analysis</a:t>
            </a:r>
            <a:r>
              <a:rPr lang="en-US" sz="2000" dirty="0"/>
              <a:t>.</a:t>
            </a:r>
          </a:p>
          <a:p>
            <a:r>
              <a:rPr lang="en-US" sz="2000" dirty="0"/>
              <a:t>Improved ability to convert </a:t>
            </a:r>
            <a:r>
              <a:rPr lang="en-US" sz="2000" b="1" dirty="0"/>
              <a:t>SQL results into business insights</a:t>
            </a:r>
            <a:r>
              <a:rPr lang="en-US" sz="2000" dirty="0"/>
              <a:t>.</a:t>
            </a:r>
          </a:p>
          <a:p>
            <a:pPr marL="114300" indent="0">
              <a:buNone/>
            </a:pPr>
            <a:r>
              <a:rPr lang="en-US" sz="2000" b="1" dirty="0"/>
              <a:t>Challenges Faced</a:t>
            </a:r>
            <a:endParaRPr lang="en-US" sz="2000" dirty="0"/>
          </a:p>
          <a:p>
            <a:r>
              <a:rPr lang="en-US" sz="2000" dirty="0"/>
              <a:t>Managing </a:t>
            </a:r>
            <a:r>
              <a:rPr lang="en-US" sz="2000" b="1" dirty="0"/>
              <a:t>foreign key constraints</a:t>
            </a:r>
            <a:r>
              <a:rPr lang="en-US" sz="2000" dirty="0"/>
              <a:t> while loading multiple datasets.</a:t>
            </a:r>
          </a:p>
          <a:p>
            <a:r>
              <a:rPr lang="en-US" sz="2000" dirty="0"/>
              <a:t>Handling </a:t>
            </a:r>
            <a:r>
              <a:rPr lang="en-US" sz="2000" b="1" dirty="0" err="1"/>
              <a:t>secure_file_priv</a:t>
            </a:r>
            <a:r>
              <a:rPr lang="en-US" sz="2000" b="1" dirty="0"/>
              <a:t> and LOAD DATA INFILE errors</a:t>
            </a:r>
            <a:r>
              <a:rPr lang="en-US" sz="2000" dirty="0"/>
              <a:t> in MySQL.</a:t>
            </a:r>
          </a:p>
          <a:p>
            <a:r>
              <a:rPr lang="en-US" sz="2000" dirty="0"/>
              <a:t>Writing and understanding </a:t>
            </a:r>
            <a:r>
              <a:rPr lang="en-US" sz="2000" b="1" dirty="0"/>
              <a:t>complex joins across multiple tables</a:t>
            </a:r>
            <a:r>
              <a:rPr lang="en-US" sz="2000" dirty="0"/>
              <a:t>.</a:t>
            </a:r>
          </a:p>
          <a:p>
            <a:pPr marL="114300" indent="0">
              <a:buNone/>
            </a:pPr>
            <a:r>
              <a:rPr lang="en-US" sz="2000" b="1" dirty="0"/>
              <a:t>Outcome</a:t>
            </a:r>
            <a:endParaRPr lang="en-US" sz="2000" dirty="0"/>
          </a:p>
          <a:p>
            <a:r>
              <a:rPr lang="en-US" sz="2000" dirty="0"/>
              <a:t>Successfully completed the project with accurate results.</a:t>
            </a:r>
          </a:p>
          <a:p>
            <a:r>
              <a:rPr lang="en-US" sz="2000" dirty="0"/>
              <a:t>Strengthened both </a:t>
            </a:r>
            <a:r>
              <a:rPr lang="en-US" sz="2000" b="1" dirty="0"/>
              <a:t>technical and analytical skills</a:t>
            </a:r>
            <a:r>
              <a:rPr lang="en-US" sz="2000" dirty="0"/>
              <a:t>.</a:t>
            </a:r>
          </a:p>
          <a:p>
            <a:endParaRPr lang="en-IN" sz="2000" dirty="0"/>
          </a:p>
        </p:txBody>
      </p:sp>
    </p:spTree>
    <p:extLst>
      <p:ext uri="{BB962C8B-B14F-4D97-AF65-F5344CB8AC3E}">
        <p14:creationId xmlns:p14="http://schemas.microsoft.com/office/powerpoint/2010/main" val="2526766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TotalTime>
  <Words>917</Words>
  <Application>Microsoft Office PowerPoint</Application>
  <PresentationFormat>Widescreen</PresentationFormat>
  <Paragraphs>74</Paragraphs>
  <Slides>21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Libre Baskerville</vt:lpstr>
      <vt:lpstr>Arial</vt:lpstr>
      <vt:lpstr>Lato Black</vt:lpstr>
      <vt:lpstr>Office Theme</vt:lpstr>
      <vt:lpstr>PowerPoint Presentation</vt:lpstr>
      <vt:lpstr>PowerPoint Presentation</vt:lpstr>
      <vt:lpstr>Objective of the Project</vt:lpstr>
      <vt:lpstr>ER Diagram and schema explanation </vt:lpstr>
      <vt:lpstr>Key analysis questions   The questions were centered around </vt:lpstr>
      <vt:lpstr>SQL query results with screenshots or summaries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business insights and recommendations </vt:lpstr>
      <vt:lpstr>Conclusion (Key finding overall)  </vt:lpstr>
      <vt:lpstr>Q&amp;A Slide   </vt:lpstr>
      <vt:lpstr>Our Experience/Challenges working on SQL – Data Analysis Project.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siddharth varma</cp:lastModifiedBy>
  <cp:revision>8</cp:revision>
  <dcterms:created xsi:type="dcterms:W3CDTF">2021-02-16T05:19:01Z</dcterms:created>
  <dcterms:modified xsi:type="dcterms:W3CDTF">2026-01-01T16:58:24Z</dcterms:modified>
</cp:coreProperties>
</file>